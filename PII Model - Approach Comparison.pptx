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931AB-C22C-4C20-BEF2-338C44B49E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918D3-0799-47E7-A1BD-542A15469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86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09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174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6705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6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6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82880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Comparison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13760" y="2682240"/>
            <a:ext cx="53644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828544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Encoder-Only   ·   vs   ·   Decoder-Only LLM Prompting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280" y="3535680"/>
            <a:ext cx="4145280" cy="1950720"/>
          </a:xfrm>
          <a:prstGeom prst="rect">
            <a:avLst/>
          </a:prstGeom>
          <a:solidFill>
            <a:srgbClr val="1D4E89"/>
          </a:solidFill>
          <a:ln w="25400">
            <a:solidFill>
              <a:srgbClr val="2D8B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3535680"/>
            <a:ext cx="146304" cy="1950720"/>
          </a:xfrm>
          <a:prstGeom prst="rect">
            <a:avLst/>
          </a:prstGeom>
          <a:solidFill>
            <a:srgbClr val="2D8BC4"/>
          </a:solidFill>
          <a:ln w="12700">
            <a:solidFill>
              <a:srgbClr val="2D8B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3535680"/>
            <a:ext cx="3998976" cy="1950720"/>
          </a:xfrm>
          <a:prstGeom prst="rect">
            <a:avLst/>
          </a:prstGeom>
          <a:noFill/>
          <a:ln/>
        </p:spPr>
        <p:txBody>
          <a:bodyPr wrap="square" lIns="135467" tIns="135467" rIns="135467" bIns="135467" rtlCol="0" anchor="ctr"/>
          <a:lstStyle/>
          <a:p>
            <a:pPr algn="ctr"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RoBERTa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+ Token Classifier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42560" y="4084320"/>
            <a:ext cx="17068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7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49440" y="3535680"/>
            <a:ext cx="4145280" cy="1950720"/>
          </a:xfrm>
          <a:prstGeom prst="rect">
            <a:avLst/>
          </a:prstGeom>
          <a:solidFill>
            <a:srgbClr val="5B21B6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3535680"/>
            <a:ext cx="146304" cy="1950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5744" y="3535680"/>
            <a:ext cx="3998976" cy="1950720"/>
          </a:xfrm>
          <a:prstGeom prst="rect">
            <a:avLst/>
          </a:prstGeom>
          <a:noFill/>
          <a:ln/>
        </p:spPr>
        <p:txBody>
          <a:bodyPr wrap="square" lIns="135467" tIns="135467" rIns="135467" bIns="135467" rtlCol="0" anchor="ctr"/>
          <a:lstStyle/>
          <a:p>
            <a:pPr algn="ctr"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/ Mistral 7B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(Zero/Few-Shot)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| Architecture Comparison   1 / 9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5344" cy="755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0"/>
            <a:ext cx="877824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Overview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solidFill>
            <a:srgbClr val="1D4E8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Comparing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6720" y="975360"/>
            <a:ext cx="5364480" cy="5303520"/>
          </a:xfrm>
          <a:prstGeom prst="rect">
            <a:avLst/>
          </a:prstGeom>
          <a:solidFill>
            <a:srgbClr val="EFF6FF"/>
          </a:solidFill>
          <a:ln w="19050">
            <a:solidFill>
              <a:srgbClr val="2D8B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6720" y="975360"/>
            <a:ext cx="5364480" cy="6096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720" y="975360"/>
            <a:ext cx="53644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 |  Fine-tuned BERT/RoBERTa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1804416"/>
            <a:ext cx="1219200" cy="670560"/>
          </a:xfrm>
          <a:prstGeom prst="rect">
            <a:avLst/>
          </a:prstGeom>
          <a:solidFill>
            <a:srgbClr val="DBEAFE"/>
          </a:solidFill>
          <a:ln w="6350">
            <a:solidFill>
              <a:srgbClr val="2D8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1804416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89760" y="1804416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of a masked language model with a token classification head on labeled PII data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2633472"/>
            <a:ext cx="1219200" cy="670560"/>
          </a:xfrm>
          <a:prstGeom prst="rect">
            <a:avLst/>
          </a:prstGeom>
          <a:solidFill>
            <a:srgbClr val="DBEAFE"/>
          </a:solidFill>
          <a:ln w="6350">
            <a:solidFill>
              <a:srgbClr val="2D8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" y="2633472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89760" y="2633472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Transformer Encoder (BERT-base: 12L, 110M params; RoBERTa-large: 24L, 355M params)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462528"/>
            <a:ext cx="1219200" cy="670560"/>
          </a:xfrm>
          <a:prstGeom prst="rect">
            <a:avLst/>
          </a:prstGeom>
          <a:solidFill>
            <a:srgbClr val="DBEAFE"/>
          </a:solidFill>
          <a:ln w="6350">
            <a:solidFill>
              <a:srgbClr val="2D8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3462528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89760" y="3462528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 softmax per token → deterministic NER label + confidence score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" y="4291584"/>
            <a:ext cx="1219200" cy="670560"/>
          </a:xfrm>
          <a:prstGeom prst="rect">
            <a:avLst/>
          </a:prstGeom>
          <a:solidFill>
            <a:srgbClr val="DBEAFE"/>
          </a:solidFill>
          <a:ln w="6350">
            <a:solidFill>
              <a:srgbClr val="2D8B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4291584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89760" y="4291584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probability distribution over entity classes (B-PER, I-PER, B-ORG, O…)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9600" y="5120640"/>
            <a:ext cx="1219200" cy="670560"/>
          </a:xfrm>
          <a:prstGeom prst="rect">
            <a:avLst/>
          </a:prstGeom>
          <a:solidFill>
            <a:srgbClr val="DBEAFE"/>
          </a:solidFill>
          <a:ln w="6350">
            <a:solidFill>
              <a:srgbClr val="2D8B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600" y="5120640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889760" y="5120640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produces the same label and the same probability score — fully reproducible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975360"/>
            <a:ext cx="5364480" cy="530352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975360"/>
            <a:ext cx="5364480" cy="6096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975360"/>
            <a:ext cx="53644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 |  LLaMA 3.1 8B / Mistral 7B Prompting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83680" y="1804416"/>
            <a:ext cx="1219200" cy="67056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804416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863840" y="1804416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text generation guided by a carefully engineered system/user prompt to extract PII entities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83680" y="2633472"/>
            <a:ext cx="1219200" cy="67056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633472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863840" y="2633472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Transformer Decoder (LLaMA 3.1 8B: 32L, 8B params; Mistral 7B: 32L, 7B params)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83680" y="3462528"/>
            <a:ext cx="1219200" cy="67056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3462528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863840" y="3462528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token-by-token generation with sampling (temp, top-p) → parse structured output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583680" y="4291584"/>
            <a:ext cx="1219200" cy="67056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291584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863840" y="4291584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 or structured JSON parsed post-hoc; confidence scores not natively available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0" y="5120640"/>
            <a:ext cx="1219200" cy="67056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5120640"/>
            <a:ext cx="1219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863840" y="5120640"/>
            <a:ext cx="3718560" cy="67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Non-deterministic: sampling introduces randomness — the same prompt may yield different extractions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| Architecture Comparison   2 / 9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5344" cy="755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0"/>
            <a:ext cx="877824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Architecture: Fine-tuned BERT / RoBERTa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solidFill>
            <a:srgbClr val="1D4E8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720" y="914400"/>
            <a:ext cx="113385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720" y="1219200"/>
            <a:ext cx="1975104" cy="1097280"/>
          </a:xfrm>
          <a:prstGeom prst="rect">
            <a:avLst/>
          </a:prstGeom>
          <a:solidFill>
            <a:srgbClr val="2D8BC4"/>
          </a:solidFill>
          <a:ln w="15240">
            <a:solidFill>
              <a:srgbClr val="1D4E8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6720" y="1219200"/>
            <a:ext cx="1975104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unstructured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document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01824" y="1767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16581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4A3B8"/>
                </a:solidFill>
                <a:latin typeface="Calibri" panose="020F0502020204030204"/>
              </a:rPr>
              <a:t>▶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84704" y="1219200"/>
            <a:ext cx="1975104" cy="1097280"/>
          </a:xfrm>
          <a:prstGeom prst="rect">
            <a:avLst/>
          </a:prstGeom>
          <a:solidFill>
            <a:srgbClr val="2D8BC4"/>
          </a:solidFill>
          <a:ln w="15240">
            <a:solidFill>
              <a:srgbClr val="1D4E8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84704" y="1219200"/>
            <a:ext cx="1975104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tokens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[CLS], [SEP]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59808" y="1767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581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4A3B8"/>
                </a:solidFill>
                <a:latin typeface="Calibri" panose="020F0502020204030204"/>
              </a:rPr>
              <a:t>▶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42688" y="1219200"/>
            <a:ext cx="1975104" cy="1341120"/>
          </a:xfrm>
          <a:prstGeom prst="rect">
            <a:avLst/>
          </a:prstGeom>
          <a:solidFill>
            <a:srgbClr val="1D4E89"/>
          </a:solidFill>
          <a:ln w="15240">
            <a:solidFill>
              <a:srgbClr val="2D8B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42688" y="1219200"/>
            <a:ext cx="1975104" cy="1341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Stack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12 layers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RoBERTa: 24 layers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attn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17792" y="18897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780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4A3B8"/>
                </a:solidFill>
                <a:latin typeface="Calibri" panose="020F0502020204030204"/>
              </a:rPr>
              <a:t>▶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00672" y="1219200"/>
            <a:ext cx="1975104" cy="1097280"/>
          </a:xfrm>
          <a:prstGeom prst="rect">
            <a:avLst/>
          </a:prstGeom>
          <a:solidFill>
            <a:srgbClr val="2D8BC4"/>
          </a:solidFill>
          <a:ln w="15240">
            <a:solidFill>
              <a:srgbClr val="1D4E8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0672" y="1219200"/>
            <a:ext cx="1975104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Classifier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layer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Softmax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75776" y="1767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87968" y="16581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4A3B8"/>
                </a:solidFill>
                <a:latin typeface="Calibri" panose="020F0502020204030204"/>
              </a:rPr>
              <a:t>▶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58656" y="1219200"/>
            <a:ext cx="1975104" cy="1097280"/>
          </a:xfrm>
          <a:prstGeom prst="rect">
            <a:avLst/>
          </a:prstGeom>
          <a:solidFill>
            <a:srgbClr val="2D8BC4"/>
          </a:solidFill>
          <a:ln w="15240">
            <a:solidFill>
              <a:srgbClr val="1D4E8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58656" y="1219200"/>
            <a:ext cx="1975104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Labels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B-PER, I-PER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B-ORG, O 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P(label) per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42688" y="2743200"/>
            <a:ext cx="1975104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42688" y="2743200"/>
            <a:ext cx="1975104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PII / NER Dataset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CoNLL-2003, OntoNotes, custom annotations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730240" y="2279904"/>
            <a:ext cx="0" cy="402336"/>
          </a:xfrm>
          <a:prstGeom prst="line">
            <a:avLst/>
          </a:prstGeom>
          <a:noFill/>
          <a:ln w="19050">
            <a:solidFill>
              <a:srgbClr val="92400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644896" y="2182368"/>
            <a:ext cx="17068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2400E"/>
                </a:solidFill>
                <a:latin typeface="Calibri" panose="020F0502020204030204"/>
              </a:rPr>
              <a:t>▲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791200" y="2304288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33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6720" y="3840480"/>
            <a:ext cx="274320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6720" y="3840480"/>
            <a:ext cx="2743200" cy="2682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6720" y="3840480"/>
            <a:ext cx="2743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26720" y="4108704"/>
            <a:ext cx="274320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per token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 softmax)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316224" y="3840480"/>
            <a:ext cx="274320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16224" y="3840480"/>
            <a:ext cx="2743200" cy="2682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6224" y="3840480"/>
            <a:ext cx="2743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16224" y="4108704"/>
            <a:ext cx="274320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– 355M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(BERT-base to RoBERTa-large)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05728" y="3840480"/>
            <a:ext cx="274320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05728" y="3840480"/>
            <a:ext cx="2743200" cy="2682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5728" y="3840480"/>
            <a:ext cx="2743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05728" y="4108704"/>
            <a:ext cx="274320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~10–50ms on GPU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095232" y="3840480"/>
            <a:ext cx="274320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95232" y="3840480"/>
            <a:ext cx="2743200" cy="2682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95232" y="3840480"/>
            <a:ext cx="2743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095232" y="4108704"/>
            <a:ext cx="274320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= same scores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26720" y="4998720"/>
            <a:ext cx="11338560" cy="792480"/>
          </a:xfrm>
          <a:prstGeom prst="rect">
            <a:avLst/>
          </a:prstGeom>
          <a:solidFill>
            <a:srgbClr val="DCFCE7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9600" y="4998720"/>
            <a:ext cx="11094720" cy="79248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defTabSz="1219170"/>
            <a:r>
              <a:rPr lang="en-US" sz="1333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DETERMINISTIC OUTPUT: </a:t>
            </a:r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softmax layer outputs a fixed probability distribution for every token. Given the same input, the model will always assign identical probability scores and the same entity labels — guaranteed reproducibility in production.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| Architecture Comparison   3 / 9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5344" cy="755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0"/>
            <a:ext cx="877824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Architecture: LLaMA 3.1 8B / Mistral 7B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720" y="914400"/>
            <a:ext cx="113385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720" y="1219200"/>
            <a:ext cx="1584960" cy="1097280"/>
          </a:xfrm>
          <a:prstGeom prst="rect">
            <a:avLst/>
          </a:prstGeom>
          <a:solidFill>
            <a:srgbClr val="7C3AED"/>
          </a:solidFill>
          <a:ln w="1524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6720" y="1219200"/>
            <a:ext cx="1584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 text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(few-shot examples)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11680" y="1767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3872" y="16581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4A3B8"/>
                </a:solidFill>
                <a:latin typeface="Calibri" panose="020F0502020204030204"/>
              </a:rPr>
              <a:t>▶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94560" y="1219200"/>
            <a:ext cx="1584960" cy="1097280"/>
          </a:xfrm>
          <a:prstGeom prst="rect">
            <a:avLst/>
          </a:prstGeom>
          <a:solidFill>
            <a:srgbClr val="7C3AED"/>
          </a:solidFill>
          <a:ln w="1524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94560" y="1219200"/>
            <a:ext cx="1584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/ SP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Byte-pair or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SentencePiece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tokens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79520" y="1767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1712" y="16581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4A3B8"/>
                </a:solidFill>
                <a:latin typeface="Calibri" panose="020F0502020204030204"/>
              </a:rPr>
              <a:t>▶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62400" y="1219200"/>
            <a:ext cx="1584960" cy="1280160"/>
          </a:xfrm>
          <a:prstGeom prst="rect">
            <a:avLst/>
          </a:prstGeom>
          <a:solidFill>
            <a:srgbClr val="5B21B6"/>
          </a:solidFill>
          <a:ln w="1524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62400" y="1219200"/>
            <a:ext cx="15849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Stack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LLaMA: 32 layers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Mistral: 32 layers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self-attn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547360" y="18592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17495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4A3B8"/>
                </a:solidFill>
                <a:latin typeface="Calibri" panose="020F0502020204030204"/>
              </a:rPr>
              <a:t>▶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30240" y="1219200"/>
            <a:ext cx="1584960" cy="1280160"/>
          </a:xfrm>
          <a:prstGeom prst="rect">
            <a:avLst/>
          </a:prstGeom>
          <a:solidFill>
            <a:srgbClr val="B91C1C"/>
          </a:solidFill>
          <a:ln w="15240">
            <a:solidFill>
              <a:srgbClr val="F8717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30240" y="1219200"/>
            <a:ext cx="15849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nucleus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15200" y="18592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27392" y="17495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4A3B8"/>
                </a:solidFill>
                <a:latin typeface="Calibri" panose="020F0502020204030204"/>
              </a:rPr>
              <a:t>▶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98080" y="1219200"/>
            <a:ext cx="1584960" cy="1097280"/>
          </a:xfrm>
          <a:prstGeom prst="rect">
            <a:avLst/>
          </a:prstGeom>
          <a:solidFill>
            <a:srgbClr val="7C3AED"/>
          </a:solidFill>
          <a:ln w="1524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219200"/>
            <a:ext cx="1584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83040" y="1767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5232" y="16581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94A3B8"/>
                </a:solidFill>
                <a:latin typeface="Calibri" panose="020F0502020204030204"/>
              </a:rPr>
              <a:t>▶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265920" y="1219200"/>
            <a:ext cx="1584960" cy="1097280"/>
          </a:xfrm>
          <a:prstGeom prst="rect">
            <a:avLst/>
          </a:prstGeom>
          <a:solidFill>
            <a:srgbClr val="7C3AED"/>
          </a:solidFill>
          <a:ln w="1524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65920" y="1219200"/>
            <a:ext cx="1584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regex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free text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30240" y="2682240"/>
            <a:ext cx="1584960" cy="792480"/>
          </a:xfrm>
          <a:prstGeom prst="rect">
            <a:avLst/>
          </a:prstGeom>
          <a:solidFill>
            <a:srgbClr val="FEE2E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30240" y="2682240"/>
            <a:ext cx="1584960" cy="792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Non-deterministic
</a:t>
            </a:r>
            <a:r>
              <a:rPr lang="en-US" sz="10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 at each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step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22720" y="2523744"/>
            <a:ext cx="0" cy="207264"/>
          </a:xfrm>
          <a:prstGeom prst="line">
            <a:avLst/>
          </a:prstGeom>
          <a:noFill/>
          <a:ln w="12700">
            <a:solidFill>
              <a:srgbClr val="B91C1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26720" y="3718560"/>
            <a:ext cx="3474720" cy="1219200"/>
          </a:xfrm>
          <a:prstGeom prst="rect">
            <a:avLst/>
          </a:prstGeom>
          <a:solidFill>
            <a:srgbClr val="F5F3FF"/>
          </a:solidFill>
          <a:ln w="19050">
            <a:solidFill>
              <a:srgbClr val="EDE9F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6720" y="3718560"/>
            <a:ext cx="3474720" cy="26822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6720" y="3718560"/>
            <a:ext cx="347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Strategies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8640" y="4047744"/>
            <a:ext cx="3230880" cy="8534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1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Zero-Shot: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description only
</a:t>
            </a:r>
            <a:r>
              <a:rPr lang="en-US" sz="11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Few-Shot: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labeled examples in prompt
</a:t>
            </a:r>
            <a:r>
              <a:rPr lang="en-US" sz="11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Chain-of-Thought: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steps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145280" y="3718560"/>
            <a:ext cx="1828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45280" y="3718560"/>
            <a:ext cx="1828800" cy="2682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5280" y="3718560"/>
            <a:ext cx="1828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145280" y="3986784"/>
            <a:ext cx="182880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free-form text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post-hoc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096000" y="3718560"/>
            <a:ext cx="1828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96000" y="3718560"/>
            <a:ext cx="1828800" cy="2682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6000" y="3718560"/>
            <a:ext cx="1828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096000" y="3986784"/>
            <a:ext cx="182880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– 8B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FP16/INT4 quant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046720" y="3718560"/>
            <a:ext cx="1828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46720" y="3718560"/>
            <a:ext cx="1828800" cy="2682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0" y="3718560"/>
            <a:ext cx="1828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046720" y="3986784"/>
            <a:ext cx="182880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200–1000ms on GPU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997440" y="3718560"/>
            <a:ext cx="1828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997440" y="3718560"/>
            <a:ext cx="1828800" cy="2682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97440" y="3718560"/>
            <a:ext cx="1828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997440" y="3986784"/>
            <a:ext cx="182880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with temperature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26720" y="5096256"/>
            <a:ext cx="11338560" cy="731520"/>
          </a:xfrm>
          <a:prstGeom prst="rect">
            <a:avLst/>
          </a:prstGeom>
          <a:solidFill>
            <a:srgbClr val="FEE2E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9600" y="5096256"/>
            <a:ext cx="11094720" cy="73152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defTabSz="1219170"/>
            <a:r>
              <a:rPr lang="en-US" sz="1333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NON-DETERMINISTIC OUTPUT: </a:t>
            </a:r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sampling layer (temperature &gt; 0) introduces randomness at every generation step. The same input prompt will produce different entity extractions across runs — output is neither reproducible nor consistent with identical probability.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| Architecture Comparison   4 / 9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5344" cy="755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0"/>
            <a:ext cx="877824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Side-by-Side Comparison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solidFill>
            <a:srgbClr val="1D4E8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Differences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5303520" cy="463296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53035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 (BERT / RoBERTa)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22720" y="914400"/>
            <a:ext cx="5303520" cy="46329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2720" y="914400"/>
            <a:ext cx="53035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 (LLaMA 3.1 8B / Mistral 7B)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0" y="914400"/>
            <a:ext cx="0" cy="542544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876544" y="3108960"/>
            <a:ext cx="438912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6544" y="3108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" y="1524000"/>
            <a:ext cx="4815840" cy="7071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9600" y="1524000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2231136"/>
            <a:ext cx="481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2414016"/>
            <a:ext cx="4815840" cy="707136"/>
          </a:xfrm>
          <a:prstGeom prst="rect">
            <a:avLst/>
          </a:prstGeom>
          <a:solidFill>
            <a:srgbClr val="DBEAFE"/>
          </a:solidFill>
          <a:ln w="12700">
            <a:solidFill>
              <a:srgbClr val="2D8B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9600" y="2414016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Tokenizer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tok1 tok2 … [SEP]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3121152"/>
            <a:ext cx="481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3304032"/>
            <a:ext cx="4815840" cy="707136"/>
          </a:xfrm>
          <a:prstGeom prst="rect">
            <a:avLst/>
          </a:prstGeom>
          <a:solidFill>
            <a:srgbClr val="1D4E89"/>
          </a:solidFill>
          <a:ln w="12700">
            <a:solidFill>
              <a:srgbClr val="2D8B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9600" y="3304032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 Stack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tokens attend to all tokens)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Transformer layers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9600" y="4011168"/>
            <a:ext cx="481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4194048"/>
            <a:ext cx="4815840" cy="707136"/>
          </a:xfrm>
          <a:prstGeom prst="rect">
            <a:avLst/>
          </a:prstGeom>
          <a:solidFill>
            <a:srgbClr val="2D8BC4"/>
          </a:solidFill>
          <a:ln w="12700">
            <a:solidFill>
              <a:srgbClr val="1D4E8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9600" y="4194048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Classification Head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(Linear + Softmax per token)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9600" y="4901184"/>
            <a:ext cx="481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600" y="5084064"/>
            <a:ext cx="4815840" cy="707136"/>
          </a:xfrm>
          <a:prstGeom prst="rect">
            <a:avLst/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9600" y="5084064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Labels + P(label) per token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· Always identical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766560" y="1524000"/>
            <a:ext cx="4815840" cy="7071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1524000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Input Text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(few-shot examples optional)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66560" y="2231136"/>
            <a:ext cx="481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66560" y="2414016"/>
            <a:ext cx="4815840" cy="707136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66560" y="2414016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/ SentencePiece Tokenizer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 token sequence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66560" y="3121152"/>
            <a:ext cx="481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766560" y="3304032"/>
            <a:ext cx="4815840" cy="707136"/>
          </a:xfrm>
          <a:prstGeom prst="rect">
            <a:avLst/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66560" y="3304032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Decoder Stack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(Tokens attend only to past tokens)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Transformer layers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66560" y="4011168"/>
            <a:ext cx="481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66560" y="4194048"/>
            <a:ext cx="4815840" cy="707136"/>
          </a:xfrm>
          <a:prstGeom prst="rect">
            <a:avLst/>
          </a:prstGeom>
          <a:solidFill>
            <a:srgbClr val="B91C1C"/>
          </a:solidFill>
          <a:ln w="12700">
            <a:solidFill>
              <a:srgbClr val="F8717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766560" y="4194048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Layer  (temp + top-p)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Introduces randomness each step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66560" y="4901184"/>
            <a:ext cx="481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766560" y="5084064"/>
            <a:ext cx="4815840" cy="707136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66560" y="5084064"/>
            <a:ext cx="4815840" cy="707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133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 → JSON Parser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33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· Varies per run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| Architecture Comparison   5 / 9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5344" cy="755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0"/>
            <a:ext cx="877824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Determinism: The Critical Difference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solidFill>
            <a:srgbClr val="1D4E8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Under the Hood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914400"/>
            <a:ext cx="11216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same input, will the model always produce the same output?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7200" y="1463040"/>
            <a:ext cx="3657600" cy="79248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67200" y="1463040"/>
            <a:ext cx="3657600" cy="792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defTabSz="1219170"/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Text:
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"Call John at +91-98765-43210 today."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67200" y="2255520"/>
            <a:ext cx="0" cy="609600"/>
          </a:xfrm>
          <a:prstGeom prst="line">
            <a:avLst/>
          </a:prstGeom>
          <a:noFill/>
          <a:ln w="19050">
            <a:solidFill>
              <a:srgbClr val="2D8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3600" y="2743200"/>
            <a:ext cx="365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2D8BC4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24800" y="2255520"/>
            <a:ext cx="1889760" cy="609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2743200"/>
            <a:ext cx="365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7C3AED"/>
                </a:solidFill>
                <a:latin typeface="Calibri" panose="020F0502020204030204"/>
              </a:rPr>
              <a:t>▼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6720" y="2987040"/>
            <a:ext cx="5242560" cy="2926080"/>
          </a:xfrm>
          <a:prstGeom prst="rect">
            <a:avLst/>
          </a:prstGeom>
          <a:solidFill>
            <a:srgbClr val="EFF6FF"/>
          </a:solidFill>
          <a:ln w="25400">
            <a:solidFill>
              <a:srgbClr val="2D8B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720" y="2987040"/>
            <a:ext cx="5242560" cy="36576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720" y="298704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 (Deterministic)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3511296"/>
            <a:ext cx="487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560" y="3511296"/>
            <a:ext cx="4754880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1:   John → B-PER (0.987)  |  +91-98765-43210 → B-PHONE (0.994)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20640" y="3511296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15803D"/>
                </a:solidFill>
                <a:latin typeface="Calibri" panose="020F0502020204030204"/>
              </a:rPr>
              <a:t>✓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181856"/>
            <a:ext cx="487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60" y="4181856"/>
            <a:ext cx="4754880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2:   John → B-PER (0.987)  |  +91-98765-43210 → B-PHONE (0.994)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20640" y="4181856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15803D"/>
                </a:solidFill>
                <a:latin typeface="Calibri" panose="020F0502020204030204"/>
              </a:rPr>
              <a:t>✓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4852416"/>
            <a:ext cx="487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560" y="4852416"/>
            <a:ext cx="4754880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N:  John → B-PER (0.987)  |  +91-98765-43210 → B-PHONE (0.994)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20640" y="4852416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15803D"/>
                </a:solidFill>
                <a:latin typeface="Calibri" panose="020F0502020204030204"/>
              </a:rPr>
              <a:t>✓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6720" y="5559552"/>
            <a:ext cx="524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scores every time — fully reproducible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22720" y="2987040"/>
            <a:ext cx="5242560" cy="292608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22720" y="2987040"/>
            <a:ext cx="5242560" cy="3657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22720" y="298704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 (Non-deterministic)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705600" y="3511296"/>
            <a:ext cx="487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3511296"/>
            <a:ext cx="4572000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067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1: 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{"name":"John","phone":"+91-98765-43210"}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216640" y="3511296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B91C1C"/>
                </a:solidFill>
                <a:latin typeface="Calibri" panose="020F0502020204030204"/>
              </a:rPr>
              <a:t>B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05600" y="4181856"/>
            <a:ext cx="487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4181856"/>
            <a:ext cx="4572000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067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2: 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John (PERSON), 98765-43210 (PHONE_NUM)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16640" y="4181856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D97706"/>
                </a:solidFill>
                <a:latin typeface="Calibri" panose="020F0502020204030204"/>
              </a:rPr>
              <a:t>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705600" y="4852416"/>
            <a:ext cx="487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852416"/>
            <a:ext cx="4572000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067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3: 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{"entities":[{"value":"John","type":"PER"},{"value":"...","type":"PH"}]}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216640" y="4852416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7C3AED"/>
                </a:solidFill>
                <a:latin typeface="Calibri" panose="020F0502020204030204"/>
              </a:rPr>
              <a:t>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22720" y="5559552"/>
            <a:ext cx="524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format, different scores per run — unreliable in production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26720" y="5949696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Sampling (temperature &gt; 0) draws from a probability distribution at every token step. Even with temperature=0 (greedy), minor floating-point differences across hardware can break exact reproducibility.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| Architecture Comparison   6 / 9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5344" cy="755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0"/>
            <a:ext cx="877824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Comparison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solidFill>
            <a:srgbClr val="1D4E8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Pros, Cons &amp; Properties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6720" y="914400"/>
            <a:ext cx="3291840" cy="426720"/>
          </a:xfrm>
          <a:prstGeom prst="rect">
            <a:avLst/>
          </a:prstGeom>
          <a:solidFill>
            <a:srgbClr val="0F2240"/>
          </a:solidFill>
          <a:ln w="6350">
            <a:solidFill>
              <a:srgbClr val="0F2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6720" y="914400"/>
            <a:ext cx="3291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79520" y="914400"/>
            <a:ext cx="4084320" cy="426720"/>
          </a:xfrm>
          <a:prstGeom prst="rect">
            <a:avLst/>
          </a:prstGeom>
          <a:solidFill>
            <a:srgbClr val="1D4E89"/>
          </a:solidFill>
          <a:ln w="6350">
            <a:solidFill>
              <a:srgbClr val="0F2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9520" y="914400"/>
            <a:ext cx="4084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(BERT/RoBERTa)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24800" y="914400"/>
            <a:ext cx="3962400" cy="426720"/>
          </a:xfrm>
          <a:prstGeom prst="rect">
            <a:avLst/>
          </a:prstGeom>
          <a:solidFill>
            <a:srgbClr val="5B21B6"/>
          </a:solidFill>
          <a:ln w="6350">
            <a:solidFill>
              <a:srgbClr val="0F2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4800" y="914400"/>
            <a:ext cx="3962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(LLaMA/Mistral)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720" y="140208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402080"/>
            <a:ext cx="3206496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79520" y="1402080"/>
            <a:ext cx="4084320" cy="548640"/>
          </a:xfrm>
          <a:prstGeom prst="rect">
            <a:avLst/>
          </a:prstGeom>
          <a:solidFill>
            <a:srgbClr val="DCFCE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402080"/>
            <a:ext cx="402336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 (softmax) per token — true confidence score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24800" y="1402080"/>
            <a:ext cx="396240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5760" y="1402080"/>
            <a:ext cx="390144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 or parsed JSON — no native probability scores per entity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6720" y="2011680"/>
            <a:ext cx="329184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011680"/>
            <a:ext cx="3206496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779520" y="2011680"/>
            <a:ext cx="4084320" cy="548640"/>
          </a:xfrm>
          <a:prstGeom prst="rect">
            <a:avLst/>
          </a:prstGeom>
          <a:solidFill>
            <a:srgbClr val="DCFCE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deterministic: same input → same labels and scores, always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24800" y="2011680"/>
            <a:ext cx="396240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5760" y="2011680"/>
            <a:ext cx="390144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Non-deterministic: sampling causes output to vary across identical runs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6720" y="262128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621280"/>
            <a:ext cx="3206496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779520" y="2621280"/>
            <a:ext cx="408432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2621280"/>
            <a:ext cx="402336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labeled NER/PII annotations (hundreds to thousands of examples)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924800" y="2621280"/>
            <a:ext cx="3962400" cy="548640"/>
          </a:xfrm>
          <a:prstGeom prst="rect">
            <a:avLst/>
          </a:prstGeom>
          <a:solidFill>
            <a:srgbClr val="DCFCE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85760" y="2621280"/>
            <a:ext cx="390144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or few-shot — no training data required at all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6720" y="3230880"/>
            <a:ext cx="329184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3230880"/>
            <a:ext cx="3206496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Flexibility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779520" y="3230880"/>
            <a:ext cx="408432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3230880"/>
            <a:ext cx="402336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entity types defined at fine-tuning time; retraining needed for new types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924800" y="3230880"/>
            <a:ext cx="3962400" cy="548640"/>
          </a:xfrm>
          <a:prstGeom prst="rect">
            <a:avLst/>
          </a:prstGeom>
          <a:solidFill>
            <a:srgbClr val="DCFCE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5760" y="3230880"/>
            <a:ext cx="390144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— any entity type can be defined in the prompt without retraining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26720" y="384048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" y="3840480"/>
            <a:ext cx="3206496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779520" y="3840480"/>
            <a:ext cx="4084320" cy="548640"/>
          </a:xfrm>
          <a:prstGeom prst="rect">
            <a:avLst/>
          </a:prstGeom>
          <a:solidFill>
            <a:srgbClr val="DCFCE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single forward pass: 10–50ms GPU, deployable on CPU for small models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924800" y="3840480"/>
            <a:ext cx="396240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5760" y="3840480"/>
            <a:ext cx="390144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autoregressive generation: 200–2000ms GPU, heavy hardware requirements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26720" y="4450080"/>
            <a:ext cx="329184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4450080"/>
            <a:ext cx="3206496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779520" y="4450080"/>
            <a:ext cx="4084320" cy="548640"/>
          </a:xfrm>
          <a:prstGeom prst="rect">
            <a:avLst/>
          </a:prstGeom>
          <a:solidFill>
            <a:srgbClr val="DCFCE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4450080"/>
            <a:ext cx="402336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model can only output predefined class labels from its vocabulary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924800" y="4450080"/>
            <a:ext cx="396240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85760" y="4450080"/>
            <a:ext cx="390144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model can fabricate entity types, miss entities, or invent context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26720" y="505968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5059680"/>
            <a:ext cx="3206496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779520" y="5059680"/>
            <a:ext cx="4084320" cy="548640"/>
          </a:xfrm>
          <a:prstGeom prst="rect">
            <a:avLst/>
          </a:prstGeom>
          <a:solidFill>
            <a:srgbClr val="DCFCE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0" y="5059680"/>
            <a:ext cx="402336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110M–355M params; runs on commodity GPU or CPU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924800" y="5059680"/>
            <a:ext cx="396240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85760" y="5059680"/>
            <a:ext cx="390144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7B–8B params; requires high-VRAM GPU or quantization (INT4/INT8)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26720" y="5669280"/>
            <a:ext cx="329184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" y="5669280"/>
            <a:ext cx="3206496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Suitability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3779520" y="5669280"/>
            <a:ext cx="4084320" cy="548640"/>
          </a:xfrm>
          <a:prstGeom prst="rect">
            <a:avLst/>
          </a:prstGeom>
          <a:solidFill>
            <a:srgbClr val="DCFCE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0" y="5669280"/>
            <a:ext cx="402336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stable, consistent, auditable, low-latency, easy to version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924800" y="5669280"/>
            <a:ext cx="396240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85760" y="5669280"/>
            <a:ext cx="3901440" cy="54864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defTabSz="1219170"/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Low-Medium: inconsistent output structure, hard to test and monitor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| Architecture Comparison   7 / 9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5344" cy="755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0"/>
            <a:ext cx="877824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&amp; Where to Use Each Approach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solidFill>
            <a:srgbClr val="1D4E8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121920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950976"/>
            <a:ext cx="5364480" cy="5510784"/>
          </a:xfrm>
          <a:prstGeom prst="rect">
            <a:avLst/>
          </a:prstGeom>
          <a:solidFill>
            <a:srgbClr val="EFF6FF"/>
          </a:solidFill>
          <a:ln w="19050">
            <a:solidFill>
              <a:srgbClr val="2D8B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50976"/>
            <a:ext cx="5364480" cy="512064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50976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ENCODER-ONLY WHEN…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560576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1560576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 requiring consistent, auditable output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GDPR, HIPAA — regulators need reproducible results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365248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2365248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/ real-time pipelines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millions of docs; latency and cost matter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169920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3169920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Known, stable set of PII entity types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SSN, phone, address, DOB — fixed taxonomy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974592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3974592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on-premise deployment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or small GPU; 110–355M params is manageable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779264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" y="4779264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training data is available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annotated PII corpora or can create them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583936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" y="5583936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interpretability &amp; confidence scoring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softmax scores provide calibrated uncertainty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61760" y="950976"/>
            <a:ext cx="5364480" cy="5510784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61760" y="950976"/>
            <a:ext cx="5364480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1760" y="950976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DECODER-ONLY WHEN…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44640" y="1560576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5600" y="1560576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or exploratory analysis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 yet; need quick PII scan without annotation effort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644640" y="2365248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5600" y="2365248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Low-volume, ad-hoc or one-time tasks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of 100 docs, not millions; latency is acceptable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644640" y="3169920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5600" y="3169920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unknown, or highly contextual entity types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codenames, custom domain PII not in standard schemas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644640" y="3974592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5600" y="3974592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data available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PII detection as a starting point before annotation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644640" y="4779264"/>
            <a:ext cx="4998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5600" y="4779264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 over context is needed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Disambiguating entities that require surrounding narrative understanding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644640" y="5583936"/>
            <a:ext cx="4998720" cy="694944"/>
          </a:xfrm>
          <a:prstGeom prst="rect">
            <a:avLst/>
          </a:prstGeom>
          <a:solidFill>
            <a:srgbClr val="FEF3C7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05600" y="5583936"/>
            <a:ext cx="487680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 regulated production pipelines
</a:t>
            </a:r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and hallucination make audit trails unreliable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| Architecture Comparison   8 / 9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6822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Recommendation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0" y="1097280"/>
            <a:ext cx="48768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20" y="1243584"/>
            <a:ext cx="5242560" cy="4206240"/>
          </a:xfrm>
          <a:prstGeom prst="rect">
            <a:avLst/>
          </a:prstGeom>
          <a:solidFill>
            <a:srgbClr val="1A3560"/>
          </a:solidFill>
          <a:ln w="25400">
            <a:solidFill>
              <a:srgbClr val="2D8B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6720" y="1243584"/>
            <a:ext cx="5242560" cy="463296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6720" y="1243584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FINE-TUNING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828800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2D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same input = same output, always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511552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2D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probability scores (calibrated confidence)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3194304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2D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latency; production-grade; auditable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877056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2D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compliance, high-volume, stable schema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4559808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2D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one-time training + small inference cost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22720" y="1243584"/>
            <a:ext cx="5242560" cy="4206240"/>
          </a:xfrm>
          <a:prstGeom prst="rect">
            <a:avLst/>
          </a:prstGeom>
          <a:solidFill>
            <a:srgbClr val="1A3560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22720" y="1243584"/>
            <a:ext cx="5242560" cy="46329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2720" y="1243584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PROMPTING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5600" y="1828800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Non-deterministic: output varies per run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5600" y="2511552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 scores — relies on parse success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0" y="3194304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latency; large GPU memory footprint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5600" y="3877056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prototyping, flexible/unknown entities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05600" y="4559808"/>
            <a:ext cx="48158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defTabSz="1219170"/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no training but high per-token inference cost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6720" y="5608320"/>
            <a:ext cx="11338560" cy="755904"/>
          </a:xfrm>
          <a:prstGeom prst="rect">
            <a:avLst/>
          </a:prstGeom>
          <a:solidFill>
            <a:srgbClr val="0F224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600" y="5608320"/>
            <a:ext cx="11094720" cy="755904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defTabSz="1219170"/>
            <a:r>
              <a:rPr lang="en-US" sz="1467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encoder-only fine-tuning for any system where consistency, auditability, and throughput matter. Use decoder-only prompting for rapid exploration, novel entity types, or when labeled data is unavailable — then migrate to a fine-tuned encoder for production.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| Architecture Comparison   9 / 9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1579</Words>
  <Application>Microsoft Office PowerPoint</Application>
  <PresentationFormat>Widescreen</PresentationFormat>
  <Paragraphs>268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Pritesh Jha</dc:creator>
  <cp:lastModifiedBy>Pritesh Jha</cp:lastModifiedBy>
  <cp:revision>1</cp:revision>
  <dcterms:created xsi:type="dcterms:W3CDTF">2026-02-22T19:33:19Z</dcterms:created>
  <dcterms:modified xsi:type="dcterms:W3CDTF">2026-02-22T19:33:38Z</dcterms:modified>
</cp:coreProperties>
</file>